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9" r:id="rId3"/>
    <p:sldId id="454" r:id="rId5"/>
    <p:sldId id="455" r:id="rId6"/>
    <p:sldId id="456" r:id="rId7"/>
    <p:sldId id="430" r:id="rId8"/>
    <p:sldId id="457" r:id="rId9"/>
    <p:sldId id="458" r:id="rId10"/>
    <p:sldId id="460" r:id="rId11"/>
    <p:sldId id="448" r:id="rId12"/>
    <p:sldId id="459" r:id="rId13"/>
    <p:sldId id="449" r:id="rId14"/>
    <p:sldId id="462" r:id="rId15"/>
    <p:sldId id="461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5FAC"/>
    <a:srgbClr val="204192"/>
    <a:srgbClr val="BDBDBD"/>
    <a:srgbClr val="DDDDDD"/>
    <a:srgbClr val="9E9E9E"/>
    <a:srgbClr val="BFBFBF"/>
    <a:srgbClr val="1D78F1"/>
    <a:srgbClr val="005DC6"/>
    <a:srgbClr val="2880F1"/>
    <a:srgbClr val="004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7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- </a:t>
            </a:r>
            <a:r>
              <a:rPr lang="zh-CN" altLang="en-US"/>
              <a:t>复发性心包炎（</a:t>
            </a:r>
            <a:r>
              <a:rPr lang="en-US" altLang="zh-CN"/>
              <a:t>RP</a:t>
            </a:r>
            <a:r>
              <a:rPr lang="zh-CN" altLang="en-US"/>
              <a:t>）定义：</a:t>
            </a:r>
            <a:r>
              <a:rPr lang="en-US" altLang="zh-CN"/>
              <a:t>RP </a:t>
            </a:r>
            <a:r>
              <a:rPr lang="zh-CN" altLang="en-US"/>
              <a:t>被定义为症状消失后至少</a:t>
            </a:r>
            <a:r>
              <a:rPr lang="en-US" altLang="zh-CN"/>
              <a:t> 4 - 6 </a:t>
            </a:r>
            <a:r>
              <a:rPr lang="zh-CN" altLang="en-US"/>
              <a:t>周心包炎的复发。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复发性心包炎（</a:t>
            </a:r>
            <a:r>
              <a:rPr lang="en-US" altLang="zh-CN"/>
              <a:t>RP</a:t>
            </a:r>
            <a:r>
              <a:rPr lang="zh-CN" altLang="en-US"/>
              <a:t>）影响：它可影响多达</a:t>
            </a:r>
            <a:r>
              <a:rPr lang="en-US" altLang="zh-CN"/>
              <a:t> 30% </a:t>
            </a:r>
            <a:r>
              <a:rPr lang="zh-CN" altLang="en-US"/>
              <a:t>的急性心包炎患者，常伴有多次发作。</a:t>
            </a:r>
            <a:r>
              <a:rPr lang="en-US" altLang="zh-CN"/>
              <a:t>RP </a:t>
            </a:r>
            <a:r>
              <a:rPr lang="zh-CN" altLang="en-US"/>
              <a:t>会显著影响患者的生活质量并增加发病率。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识别风险患者的重要性：识别有难治性</a:t>
            </a:r>
            <a:r>
              <a:rPr lang="en-US" altLang="zh-CN"/>
              <a:t> RP </a:t>
            </a:r>
            <a:r>
              <a:rPr lang="zh-CN" altLang="en-US"/>
              <a:t>风险的患者对于优化护理和预防至关重要。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研究现状：目前缺乏用于预测</a:t>
            </a:r>
            <a:r>
              <a:rPr lang="en-US" altLang="zh-CN"/>
              <a:t> RP </a:t>
            </a:r>
            <a:r>
              <a:rPr lang="zh-CN" altLang="en-US"/>
              <a:t>患者长期预后的风险分层模型。以往的研究因关注范围狭窄和样本量小而受到限制。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本研究目标：本研究旨在分析一组特征明确的大型复发性心包炎患者队列。目标是确定与难治性</a:t>
            </a:r>
            <a:r>
              <a:rPr lang="en-US" altLang="zh-CN"/>
              <a:t> RP </a:t>
            </a:r>
            <a:r>
              <a:rPr lang="zh-CN" altLang="en-US"/>
              <a:t>相关的因素，并开发一种预后风险分层工具。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关注模型性能的核心指标</a:t>
            </a:r>
            <a:r>
              <a:rPr lang="en-US" altLang="zh-CN"/>
              <a:t> ——C </a:t>
            </a:r>
            <a:r>
              <a:rPr lang="zh-CN" altLang="en-US"/>
              <a:t>指数（</a:t>
            </a:r>
            <a:r>
              <a:rPr lang="en-US" altLang="zh-CN"/>
              <a:t>C-index</a:t>
            </a:r>
            <a:r>
              <a:rPr lang="zh-CN" altLang="en-US"/>
              <a:t>），它衡量模型对事件发生时间的预测能力，越接近</a:t>
            </a:r>
            <a:r>
              <a:rPr lang="en-US" altLang="zh-CN"/>
              <a:t> 1 </a:t>
            </a:r>
            <a:r>
              <a:rPr lang="zh-CN" altLang="en-US"/>
              <a:t>说明性能越好。当使用全部变量、未进行特征消除时，训练集各模型</a:t>
            </a:r>
            <a:r>
              <a:rPr lang="en-US" altLang="zh-CN"/>
              <a:t> C </a:t>
            </a:r>
            <a:r>
              <a:rPr lang="zh-CN" altLang="en-US"/>
              <a:t>指数在</a:t>
            </a:r>
            <a:r>
              <a:rPr lang="en-US" altLang="zh-CN"/>
              <a:t> 0.775-0.786 </a:t>
            </a:r>
            <a:r>
              <a:rPr lang="zh-CN" altLang="en-US"/>
              <a:t>区间，测试集在</a:t>
            </a:r>
            <a:r>
              <a:rPr lang="en-US" altLang="zh-CN"/>
              <a:t> 0.538-0.778 </a:t>
            </a:r>
            <a:r>
              <a:rPr lang="zh-CN" altLang="en-US"/>
              <a:t>区间；</a:t>
            </a:r>
            <a:endParaRPr lang="zh-CN" altLang="en-US"/>
          </a:p>
          <a:p>
            <a:r>
              <a:rPr lang="zh-CN" altLang="en-US"/>
              <a:t>经递归特征消除（</a:t>
            </a:r>
            <a:r>
              <a:rPr lang="en-US" altLang="zh-CN"/>
              <a:t>RFE</a:t>
            </a:r>
            <a:r>
              <a:rPr lang="zh-CN" altLang="en-US"/>
              <a:t>），仅保留</a:t>
            </a:r>
            <a:r>
              <a:rPr lang="en-US" altLang="zh-CN"/>
              <a:t> 10 </a:t>
            </a:r>
            <a:r>
              <a:rPr lang="zh-CN" altLang="en-US"/>
              <a:t>个关键变量后，模型性能显著提升：</a:t>
            </a:r>
            <a:r>
              <a:rPr lang="en-US" altLang="zh-CN"/>
              <a:t>CPH </a:t>
            </a:r>
            <a:r>
              <a:rPr lang="zh-CN" altLang="en-US"/>
              <a:t>和梯度提升生存分析（</a:t>
            </a:r>
            <a:r>
              <a:rPr lang="en-US" altLang="zh-CN"/>
              <a:t>GBSA</a:t>
            </a:r>
            <a:r>
              <a:rPr lang="zh-CN" altLang="en-US"/>
              <a:t>）模型在测试集上均达到</a:t>
            </a:r>
            <a:r>
              <a:rPr lang="en-US" altLang="zh-CN"/>
              <a:t>0.800</a:t>
            </a:r>
            <a:r>
              <a:rPr lang="zh-CN" altLang="en-US"/>
              <a:t>的最高</a:t>
            </a:r>
            <a:r>
              <a:rPr lang="en-US" altLang="zh-CN"/>
              <a:t> C </a:t>
            </a:r>
            <a:r>
              <a:rPr lang="zh-CN" altLang="en-US"/>
              <a:t>指数，极端梯度提升（</a:t>
            </a:r>
            <a:r>
              <a:rPr lang="en-US" altLang="zh-CN"/>
              <a:t>XGB</a:t>
            </a:r>
            <a:r>
              <a:rPr lang="zh-CN" altLang="en-US"/>
              <a:t>）、随机生存森林（</a:t>
            </a:r>
            <a:r>
              <a:rPr lang="en-US" altLang="zh-CN"/>
              <a:t>RSF</a:t>
            </a:r>
            <a:r>
              <a:rPr lang="zh-CN" altLang="en-US"/>
              <a:t>）等模型也有不同程度改善。</a:t>
            </a:r>
            <a:br>
              <a:rPr lang="zh-CN" altLang="en-US"/>
            </a:br>
            <a:r>
              <a:rPr lang="zh-CN" altLang="en-US"/>
              <a:t>为何最终选择</a:t>
            </a:r>
            <a:r>
              <a:rPr lang="en-US" altLang="zh-CN"/>
              <a:t> CPH </a:t>
            </a:r>
            <a:r>
              <a:rPr lang="zh-CN" altLang="en-US"/>
              <a:t>模型？尽管</a:t>
            </a:r>
            <a:r>
              <a:rPr lang="en-US" altLang="zh-CN"/>
              <a:t> GBSA </a:t>
            </a:r>
            <a:r>
              <a:rPr lang="zh-CN" altLang="en-US"/>
              <a:t>模型很稳健，但即便借助</a:t>
            </a:r>
            <a:r>
              <a:rPr lang="en-US" altLang="zh-CN"/>
              <a:t> SHAP </a:t>
            </a:r>
            <a:r>
              <a:rPr lang="zh-CN" altLang="en-US"/>
              <a:t>方法，其可解释性和计算复杂性仍存在挑战。在临床场景中，模型的易解释性与实际适用性，和预测性能同样关键。因此，我们选择</a:t>
            </a:r>
            <a:r>
              <a:rPr lang="en-US" altLang="zh-CN"/>
              <a:t>CPH </a:t>
            </a:r>
            <a:r>
              <a:rPr lang="zh-CN" altLang="en-US"/>
              <a:t>模型作为风险分层与进一步分析的最优模型。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br>
              <a:rPr lang="en-US" altLang="zh-CN"/>
            </a:br>
            <a:br>
              <a:rPr lang="en-US" altLang="zh-CN"/>
            </a:b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6858635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1" descr="d7ac88ddff522896e7311cb33573c2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" y="885825"/>
            <a:ext cx="9007475" cy="41040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7075" y="5047615"/>
            <a:ext cx="6266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题目：预测复发性心包炎患者的长期临床预后</a:t>
            </a:r>
            <a:endParaRPr lang="zh-CN" altLang="en-US"/>
          </a:p>
          <a:p>
            <a:r>
              <a:rPr lang="zh-CN" altLang="en-US"/>
              <a:t>杂志：</a:t>
            </a:r>
            <a:r>
              <a:rPr lang="en-US" altLang="zh-CN"/>
              <a:t>Journal of the American College of Cardiology</a:t>
            </a:r>
            <a:endParaRPr lang="en-US" altLang="zh-CN"/>
          </a:p>
          <a:p>
            <a:r>
              <a:rPr lang="zh-CN" altLang="en-US"/>
              <a:t>影响因子：</a:t>
            </a:r>
            <a:r>
              <a:rPr lang="en-US" altLang="zh-CN"/>
              <a:t>IF=21.7</a:t>
            </a:r>
            <a:endParaRPr lang="en-US" altLang="zh-CN"/>
          </a:p>
          <a:p>
            <a:r>
              <a:rPr lang="zh-CN" altLang="en-US"/>
              <a:t>发表时间：</a:t>
            </a:r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82980" y="675640"/>
            <a:ext cx="2900045" cy="4559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zh-CN" altLang="en-US"/>
              <a:t>复发性心包炎（</a:t>
            </a:r>
            <a:r>
              <a:rPr lang="en-US" altLang="zh-CN"/>
              <a:t>RP</a:t>
            </a:r>
            <a:r>
              <a:rPr lang="zh-CN" altLang="en-US"/>
              <a:t>）定义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62805" y="525145"/>
            <a:ext cx="67011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RP is defined as a recurrence of pericarditis at least 4-6 weeks after being symptom-free.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662805" y="1447165"/>
            <a:ext cx="67011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 affects up to 30% of acute pericarditis patients, often with multiple episodes.RP can significantly impact patients' quality of life and increase morbidity.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662805" y="2684780"/>
            <a:ext cx="6700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Identifying patients at risk of refractory RP is crucial for optimizing care and prevention.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4662805" y="3645535"/>
            <a:ext cx="70243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Currently, there is a lack of risk stratification models to predict long-term outcomes in RP patients.</a:t>
            </a:r>
            <a:endParaRPr lang="en-US" altLang="zh-CN"/>
          </a:p>
          <a:p>
            <a:r>
              <a:rPr lang="en-US" altLang="zh-CN"/>
              <a:t>Previous research has been limited by narrow focus and small sample sizes.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662805" y="5160010"/>
            <a:ext cx="68357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This study aims to analyze a well-characterized, large cohort of RP patients. The goal is to identify factors linked to refractory RP and develop a prognostic risk stratification tool.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982980" y="3841115"/>
            <a:ext cx="2900045" cy="4559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研究现状</a:t>
            </a:r>
            <a:endParaRPr lang="zh-CN" altLang="en-US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982980" y="2874010"/>
            <a:ext cx="2900045" cy="4559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识别风险患者的重要性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82980" y="5271770"/>
            <a:ext cx="2900045" cy="4559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本研究目标</a:t>
            </a:r>
            <a:endParaRPr lang="zh-CN" altLang="en-US">
              <a:sym typeface="+mn-ea"/>
            </a:endParaRPr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982980" y="1685290"/>
            <a:ext cx="2900045" cy="4559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zh-CN" altLang="en-US"/>
              <a:t>复发性心包炎（</a:t>
            </a:r>
            <a:r>
              <a:rPr lang="en-US" altLang="zh-CN"/>
              <a:t>RP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影响</a:t>
            </a:r>
            <a:endParaRPr lang="zh-CN" altLang="en-US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17" name="右箭头 16"/>
          <p:cNvSpPr/>
          <p:nvPr/>
        </p:nvSpPr>
        <p:spPr>
          <a:xfrm>
            <a:off x="3883025" y="844550"/>
            <a:ext cx="487045" cy="1079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3883025" y="1854200"/>
            <a:ext cx="487045" cy="1079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3883025" y="3048000"/>
            <a:ext cx="487045" cy="1079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3883025" y="4015105"/>
            <a:ext cx="487045" cy="1079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3883025" y="5445760"/>
            <a:ext cx="487045" cy="1079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66445" y="323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研究对象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708400" y="692150"/>
            <a:ext cx="5013960" cy="687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回顾性筛查：有</a:t>
            </a:r>
            <a:r>
              <a:rPr lang="en-US" altLang="zh-CN" sz="2000">
                <a:solidFill>
                  <a:schemeClr val="tx1"/>
                </a:solidFill>
              </a:rPr>
              <a:t>RP</a:t>
            </a:r>
            <a:r>
              <a:rPr lang="zh-CN" altLang="en-US" sz="2000">
                <a:solidFill>
                  <a:schemeClr val="tx1"/>
                </a:solidFill>
              </a:rPr>
              <a:t>病史的患者</a:t>
            </a:r>
            <a:r>
              <a:rPr lang="en-US" altLang="zh-CN" sz="2000">
                <a:solidFill>
                  <a:schemeClr val="tx1"/>
                </a:solidFill>
              </a:rPr>
              <a:t>(n=497)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en-US" altLang="zh-CN" sz="2000">
                <a:solidFill>
                  <a:schemeClr val="tx1"/>
                </a:solidFill>
              </a:rPr>
              <a:t>2012</a:t>
            </a:r>
            <a:r>
              <a:rPr lang="zh-CN" altLang="en-US" sz="2000">
                <a:solidFill>
                  <a:schemeClr val="tx1"/>
                </a:solidFill>
              </a:rPr>
              <a:t>年</a:t>
            </a:r>
            <a:r>
              <a:rPr lang="en-US" altLang="zh-CN" sz="2000">
                <a:solidFill>
                  <a:schemeClr val="tx1"/>
                </a:solidFill>
              </a:rPr>
              <a:t>1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1</a:t>
            </a:r>
            <a:r>
              <a:rPr lang="zh-CN" altLang="en-US" sz="2000">
                <a:solidFill>
                  <a:schemeClr val="tx1"/>
                </a:solidFill>
              </a:rPr>
              <a:t>日至</a:t>
            </a:r>
            <a:r>
              <a:rPr lang="en-US" altLang="zh-CN" sz="2000">
                <a:solidFill>
                  <a:schemeClr val="tx1"/>
                </a:solidFill>
              </a:rPr>
              <a:t>2019</a:t>
            </a:r>
            <a:r>
              <a:rPr lang="zh-CN" altLang="en-US" sz="2000">
                <a:solidFill>
                  <a:schemeClr val="tx1"/>
                </a:solidFill>
              </a:rPr>
              <a:t>年</a:t>
            </a:r>
            <a:r>
              <a:rPr lang="en-US" altLang="zh-CN" sz="2000">
                <a:solidFill>
                  <a:schemeClr val="tx1"/>
                </a:solidFill>
              </a:rPr>
              <a:t>12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31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/>
              <a:t>    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3411855" y="2164080"/>
            <a:ext cx="5612765" cy="14636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zh-CN" altLang="en-US" sz="2000">
                <a:solidFill>
                  <a:schemeClr val="tx1"/>
                </a:solidFill>
              </a:rPr>
              <a:t>排除标准</a:t>
            </a:r>
            <a:r>
              <a:rPr lang="en-US" altLang="zh-CN" sz="2000">
                <a:solidFill>
                  <a:schemeClr val="tx1"/>
                </a:solidFill>
              </a:rPr>
              <a:t>                  </a:t>
            </a:r>
            <a:endParaRPr lang="en-US" altLang="zh-CN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1. </a:t>
            </a:r>
            <a:r>
              <a:rPr lang="zh-CN" altLang="en-US" sz="2000">
                <a:solidFill>
                  <a:schemeClr val="tx1"/>
                </a:solidFill>
              </a:rPr>
              <a:t>既往心包切除术史或随访</a:t>
            </a:r>
            <a:r>
              <a:rPr lang="en-US" altLang="zh-CN" sz="2000">
                <a:solidFill>
                  <a:schemeClr val="tx1"/>
                </a:solidFill>
              </a:rPr>
              <a:t>&lt;6</a:t>
            </a:r>
            <a:r>
              <a:rPr lang="zh-CN" altLang="en-US" sz="2000">
                <a:solidFill>
                  <a:schemeClr val="tx1"/>
                </a:solidFill>
              </a:rPr>
              <a:t>个月</a:t>
            </a:r>
            <a:r>
              <a:rPr lang="en-US" altLang="zh-CN" sz="2000">
                <a:solidFill>
                  <a:schemeClr val="tx1"/>
                </a:solidFill>
              </a:rPr>
              <a:t> (n=88)        </a:t>
            </a:r>
            <a:endParaRPr lang="en-US" altLang="zh-CN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2. </a:t>
            </a:r>
            <a:r>
              <a:rPr lang="zh-CN" altLang="en-US" sz="2000">
                <a:solidFill>
                  <a:schemeClr val="tx1"/>
                </a:solidFill>
              </a:rPr>
              <a:t>特定病因导致的</a:t>
            </a:r>
            <a:r>
              <a:rPr lang="en-US" altLang="zh-CN" sz="2000">
                <a:solidFill>
                  <a:schemeClr val="tx1"/>
                </a:solidFill>
              </a:rPr>
              <a:t>RP</a:t>
            </a:r>
            <a:r>
              <a:rPr lang="zh-CN" altLang="en-US" sz="2000">
                <a:solidFill>
                  <a:schemeClr val="tx1"/>
                </a:solidFill>
              </a:rPr>
              <a:t>患者：放射</a:t>
            </a:r>
            <a:r>
              <a:rPr lang="en-US" altLang="zh-CN" sz="2000">
                <a:solidFill>
                  <a:schemeClr val="tx1"/>
                </a:solidFill>
              </a:rPr>
              <a:t>/</a:t>
            </a:r>
            <a:r>
              <a:rPr lang="zh-CN" altLang="en-US" sz="2000">
                <a:solidFill>
                  <a:schemeClr val="tx1"/>
                </a:solidFill>
              </a:rPr>
              <a:t>恶性</a:t>
            </a:r>
            <a:r>
              <a:rPr lang="en-US" altLang="zh-CN" sz="2000">
                <a:solidFill>
                  <a:schemeClr val="tx1"/>
                </a:solidFill>
              </a:rPr>
              <a:t>/</a:t>
            </a:r>
            <a:r>
              <a:rPr lang="zh-CN" altLang="en-US" sz="2000">
                <a:solidFill>
                  <a:schemeClr val="tx1"/>
                </a:solidFill>
              </a:rPr>
              <a:t>细菌</a:t>
            </a:r>
            <a:r>
              <a:rPr lang="en-US" altLang="zh-CN" sz="2000">
                <a:solidFill>
                  <a:schemeClr val="tx1"/>
                </a:solidFill>
              </a:rPr>
              <a:t>/</a:t>
            </a:r>
            <a:r>
              <a:rPr lang="zh-CN" altLang="en-US" sz="2000">
                <a:solidFill>
                  <a:schemeClr val="tx1"/>
                </a:solidFill>
              </a:rPr>
              <a:t>代谢</a:t>
            </a:r>
            <a:r>
              <a:rPr lang="en-US" altLang="zh-CN" sz="2000">
                <a:solidFill>
                  <a:schemeClr val="tx1"/>
                </a:solidFill>
              </a:rPr>
              <a:t>/</a:t>
            </a:r>
            <a:r>
              <a:rPr lang="zh-CN" altLang="en-US" sz="2000">
                <a:solidFill>
                  <a:schemeClr val="tx1"/>
                </a:solidFill>
              </a:rPr>
              <a:t>真菌性</a:t>
            </a:r>
            <a:r>
              <a:rPr lang="en-US" altLang="zh-CN" sz="2000">
                <a:solidFill>
                  <a:schemeClr val="tx1"/>
                </a:solidFill>
              </a:rPr>
              <a:t> (n=44)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043680" y="4320540"/>
            <a:ext cx="4561840" cy="1828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最终纳入分析的患者</a:t>
            </a:r>
            <a:r>
              <a:rPr lang="en-US" altLang="zh-CN" sz="2000">
                <a:solidFill>
                  <a:schemeClr val="tx1"/>
                </a:solidFill>
              </a:rPr>
              <a:t>(n=365)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纳入病因类型：</a:t>
            </a:r>
            <a:r>
              <a:rPr lang="en-US" altLang="zh-CN" sz="2000">
                <a:solidFill>
                  <a:schemeClr val="tx1"/>
                </a:solidFill>
              </a:rPr>
              <a:t>  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自身免疫性疾病相关</a:t>
            </a:r>
            <a:r>
              <a:rPr lang="en-US" altLang="zh-CN" sz="2000">
                <a:solidFill>
                  <a:schemeClr val="tx1"/>
                </a:solidFill>
              </a:rPr>
              <a:t>RP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心脏损伤后综合征相关</a:t>
            </a:r>
            <a:r>
              <a:rPr lang="en-US" altLang="zh-CN" sz="2000">
                <a:solidFill>
                  <a:schemeClr val="tx1"/>
                </a:solidFill>
              </a:rPr>
              <a:t>RP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特发性</a:t>
            </a:r>
            <a:r>
              <a:rPr lang="en-US" altLang="zh-CN" sz="2000">
                <a:solidFill>
                  <a:schemeClr val="tx1"/>
                </a:solidFill>
              </a:rPr>
              <a:t>RP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23" name="下箭头 22"/>
          <p:cNvSpPr/>
          <p:nvPr/>
        </p:nvSpPr>
        <p:spPr>
          <a:xfrm>
            <a:off x="6027420" y="1455420"/>
            <a:ext cx="518160" cy="47244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4" name="下箭头 23"/>
          <p:cNvSpPr/>
          <p:nvPr/>
        </p:nvSpPr>
        <p:spPr>
          <a:xfrm>
            <a:off x="6027420" y="3737610"/>
            <a:ext cx="518160" cy="47244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88365" y="852170"/>
            <a:ext cx="2397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队列：克利夫兰队列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82720" y="323850"/>
            <a:ext cx="4535170" cy="3987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  <a:alpha val="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2000"/>
              <a:t>  </a:t>
            </a:r>
            <a:r>
              <a:rPr lang="zh-CN" altLang="en-US" sz="2000"/>
              <a:t>研究核心要素：结局指标和预测因子</a:t>
            </a:r>
            <a:endParaRPr lang="zh-CN" altLang="en-US" sz="2000"/>
          </a:p>
        </p:txBody>
      </p:sp>
      <p:sp>
        <p:nvSpPr>
          <p:cNvPr id="13" name="圆角矩形 12"/>
          <p:cNvSpPr/>
          <p:nvPr/>
        </p:nvSpPr>
        <p:spPr>
          <a:xfrm>
            <a:off x="882015" y="1238250"/>
            <a:ext cx="4235450" cy="4749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主要结局指标：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临床缓解（</a:t>
            </a:r>
            <a:r>
              <a:rPr lang="en-US" altLang="zh-CN">
                <a:solidFill>
                  <a:schemeClr val="tx1"/>
                </a:solidFill>
              </a:rPr>
              <a:t>CR)  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4014470"/>
            <a:ext cx="5124450" cy="226695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584200" y="1878330"/>
            <a:ext cx="5013960" cy="19710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临床缓解定义：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en-US" altLang="zh-CN" sz="2000">
                <a:solidFill>
                  <a:schemeClr val="tx1"/>
                </a:solidFill>
              </a:rPr>
              <a:t>1. </a:t>
            </a:r>
            <a:r>
              <a:rPr lang="zh-CN" altLang="en-US" sz="2000">
                <a:solidFill>
                  <a:schemeClr val="tx1"/>
                </a:solidFill>
              </a:rPr>
              <a:t>无复发</a:t>
            </a:r>
            <a:r>
              <a:rPr lang="en-US" altLang="zh-CN" sz="2000">
                <a:solidFill>
                  <a:schemeClr val="tx1"/>
                </a:solidFill>
              </a:rPr>
              <a:t>  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en-US" altLang="zh-CN" sz="2000">
                <a:solidFill>
                  <a:schemeClr val="tx1"/>
                </a:solidFill>
              </a:rPr>
              <a:t>2. </a:t>
            </a:r>
            <a:r>
              <a:rPr lang="zh-CN" altLang="en-US" sz="2000">
                <a:solidFill>
                  <a:schemeClr val="tx1"/>
                </a:solidFill>
              </a:rPr>
              <a:t>完全停用抗炎治疗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br>
              <a:rPr lang="en-US" altLang="zh-CN" sz="2000">
                <a:solidFill>
                  <a:schemeClr val="tx1"/>
                </a:solidFill>
              </a:rPr>
            </a:br>
            <a:r>
              <a:rPr lang="en-US" altLang="zh-CN" sz="2000">
                <a:solidFill>
                  <a:schemeClr val="tx1"/>
                </a:solidFill>
              </a:rPr>
              <a:t>3. </a:t>
            </a:r>
            <a:r>
              <a:rPr lang="zh-CN" altLang="en-US" sz="2000">
                <a:solidFill>
                  <a:schemeClr val="tx1"/>
                </a:solidFill>
              </a:rPr>
              <a:t>满足以下所有条件：症状完全缓解，无心包炎的临床、实验室和影像学活动性性证据</a:t>
            </a:r>
            <a:r>
              <a:rPr lang="en-US" altLang="zh-CN" sz="2000">
                <a:solidFill>
                  <a:schemeClr val="tx1"/>
                </a:solidFill>
              </a:rPr>
              <a:t>  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82560" y="1238250"/>
            <a:ext cx="2783205" cy="4749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  <a:alpha val="0"/>
              </a:schemeClr>
            </a:solidFill>
          </a:ln>
        </p:spPr>
        <p:txBody>
          <a:bodyPr wrap="square" rtlCol="0">
            <a:noAutofit/>
          </a:bodyPr>
          <a:p>
            <a:r>
              <a:rPr lang="zh-CN" altLang="en-US" sz="2000"/>
              <a:t>预测因子筛选流程</a:t>
            </a:r>
            <a:endParaRPr lang="zh-CN" altLang="en-US" sz="2000"/>
          </a:p>
        </p:txBody>
      </p:sp>
      <p:sp>
        <p:nvSpPr>
          <p:cNvPr id="6" name="圆角矩形 5"/>
          <p:cNvSpPr/>
          <p:nvPr/>
        </p:nvSpPr>
        <p:spPr>
          <a:xfrm>
            <a:off x="7309485" y="1942465"/>
            <a:ext cx="3764915" cy="14408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1. </a:t>
            </a:r>
            <a:r>
              <a:rPr lang="zh-CN" altLang="en-US" sz="2000">
                <a:solidFill>
                  <a:schemeClr val="tx1"/>
                </a:solidFill>
              </a:rPr>
              <a:t>初始变量选择标准：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基于临床专业知识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先前研究支持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数据可及性</a:t>
            </a:r>
            <a:r>
              <a:rPr lang="en-US" altLang="zh-CN" sz="2000">
                <a:solidFill>
                  <a:schemeClr val="tx1"/>
                </a:solidFill>
              </a:rPr>
              <a:t>    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309485" y="3658235"/>
            <a:ext cx="3764915" cy="14408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2. </a:t>
            </a:r>
            <a:r>
              <a:rPr lang="zh-CN" altLang="en-US" sz="2000">
                <a:solidFill>
                  <a:schemeClr val="tx1"/>
                </a:solidFill>
              </a:rPr>
              <a:t>数据质量控制：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剔除缺失率</a:t>
            </a:r>
            <a:r>
              <a:rPr lang="en-US" altLang="zh-CN" sz="2000">
                <a:solidFill>
                  <a:schemeClr val="tx1"/>
                </a:solidFill>
              </a:rPr>
              <a:t>≥10%</a:t>
            </a:r>
            <a:r>
              <a:rPr lang="zh-CN" altLang="en-US" sz="2000">
                <a:solidFill>
                  <a:schemeClr val="tx1"/>
                </a:solidFill>
              </a:rPr>
              <a:t>的变量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zh-CN" altLang="en-US" sz="2000">
                <a:solidFill>
                  <a:schemeClr val="tx1"/>
                </a:solidFill>
              </a:rPr>
              <a:t>整体缺失率</a:t>
            </a:r>
            <a:r>
              <a:rPr lang="en-US" altLang="zh-CN" sz="2000">
                <a:solidFill>
                  <a:schemeClr val="tx1"/>
                </a:solidFill>
              </a:rPr>
              <a:t>0.023%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en-US" altLang="zh-CN" sz="2000">
                <a:solidFill>
                  <a:schemeClr val="tx1"/>
                </a:solidFill>
              </a:rPr>
              <a:t>KNN</a:t>
            </a:r>
            <a:r>
              <a:rPr lang="zh-CN" altLang="en-US" sz="2000">
                <a:solidFill>
                  <a:schemeClr val="tx1"/>
                </a:solidFill>
              </a:rPr>
              <a:t>算法插补缺失值</a:t>
            </a:r>
            <a:r>
              <a:rPr lang="en-US" altLang="zh-CN" sz="2000">
                <a:solidFill>
                  <a:schemeClr val="tx1"/>
                </a:solidFill>
              </a:rPr>
              <a:t>    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309485" y="5374005"/>
            <a:ext cx="3764915" cy="10401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>
                <a:solidFill>
                  <a:schemeClr val="tx1"/>
                </a:solidFill>
              </a:rPr>
              <a:t>3. </a:t>
            </a:r>
            <a:r>
              <a:rPr lang="zh-CN" altLang="en-US" sz="2000">
                <a:solidFill>
                  <a:schemeClr val="tx1"/>
                </a:solidFill>
              </a:rPr>
              <a:t>最终预测因子：</a:t>
            </a:r>
            <a:br>
              <a:rPr lang="zh-CN" altLang="en-US" sz="2000">
                <a:solidFill>
                  <a:schemeClr val="tx1"/>
                </a:solidFill>
              </a:rPr>
            </a:br>
            <a:r>
              <a:rPr lang="en-US" altLang="zh-CN" sz="2000">
                <a:solidFill>
                  <a:schemeClr val="tx1"/>
                </a:solidFill>
              </a:rPr>
              <a:t>34</a:t>
            </a:r>
            <a:r>
              <a:rPr lang="zh-CN" altLang="en-US" sz="2000">
                <a:solidFill>
                  <a:schemeClr val="tx1"/>
                </a:solidFill>
              </a:rPr>
              <a:t>个临床变量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右大括号 8"/>
          <p:cNvSpPr/>
          <p:nvPr/>
        </p:nvSpPr>
        <p:spPr>
          <a:xfrm rot="16200000">
            <a:off x="6273800" y="-673100"/>
            <a:ext cx="289560" cy="3307080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9105900" y="3390900"/>
            <a:ext cx="213360" cy="24384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9105900" y="5114290"/>
            <a:ext cx="213360" cy="24384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651510" y="31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研究思路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100" y="300355"/>
            <a:ext cx="5437505" cy="5339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0" y="163830"/>
            <a:ext cx="1432560" cy="170053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725" y="497205"/>
            <a:ext cx="2301240" cy="193484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3233420"/>
            <a:ext cx="3161030" cy="26238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870" y="5753100"/>
            <a:ext cx="1870710" cy="100203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9743440" y="4178300"/>
            <a:ext cx="2413000" cy="7372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Kaplan-Meier</a:t>
            </a:r>
            <a:r>
              <a:rPr lang="zh-CN" altLang="en-US" sz="1400"/>
              <a:t>曲线图显示不同风险组的临床缓解概率随时间的变化</a:t>
            </a:r>
            <a:endParaRPr lang="zh-CN" altLang="en-US" sz="1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385" y="5753100"/>
            <a:ext cx="3711575" cy="100266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3" name="圆角矩形 12"/>
          <p:cNvSpPr/>
          <p:nvPr/>
        </p:nvSpPr>
        <p:spPr>
          <a:xfrm>
            <a:off x="3580765" y="3232785"/>
            <a:ext cx="5992495" cy="252031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连接符 13"/>
          <p:cNvCxnSpPr>
            <a:stCxn id="2" idx="3"/>
          </p:cNvCxnSpPr>
          <p:nvPr/>
        </p:nvCxnSpPr>
        <p:spPr>
          <a:xfrm flipV="1">
            <a:off x="3449320" y="1002665"/>
            <a:ext cx="472440" cy="114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6" idx="3"/>
          </p:cNvCxnSpPr>
          <p:nvPr/>
        </p:nvCxnSpPr>
        <p:spPr>
          <a:xfrm>
            <a:off x="3390265" y="4545330"/>
            <a:ext cx="497205" cy="31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endCxn id="4" idx="1"/>
          </p:cNvCxnSpPr>
          <p:nvPr/>
        </p:nvCxnSpPr>
        <p:spPr>
          <a:xfrm flipV="1">
            <a:off x="8014970" y="1464945"/>
            <a:ext cx="1468755" cy="698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772910" y="5449570"/>
            <a:ext cx="0" cy="3155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9067165" y="5558790"/>
            <a:ext cx="5715" cy="19431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9763760" y="2738120"/>
            <a:ext cx="2211705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哈雷尔一致性指数（</a:t>
            </a:r>
            <a:r>
              <a:rPr lang="en-US" altLang="zh-CN" sz="1400"/>
              <a:t>c</a:t>
            </a:r>
            <a:r>
              <a:rPr lang="zh-CN" altLang="en-US" sz="1400"/>
              <a:t>指数），一种适合此类预测风险评分的指标，被用来衡量模型的预测性能。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362585" y="2072640"/>
            <a:ext cx="3153410" cy="7372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通过</a:t>
            </a:r>
            <a:r>
              <a:rPr lang="en-US" altLang="zh-CN" sz="1400">
                <a:sym typeface="+mn-ea"/>
              </a:rPr>
              <a:t>SHAP</a:t>
            </a:r>
            <a:r>
              <a:rPr lang="zh-CN" altLang="en-US" sz="1400">
                <a:sym typeface="+mn-ea"/>
              </a:rPr>
              <a:t>值分析来识别关键变量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采用</a:t>
            </a:r>
            <a:r>
              <a:rPr lang="en-US" altLang="zh-CN" sz="1400"/>
              <a:t>SHAP</a:t>
            </a:r>
            <a:r>
              <a:rPr lang="zh-CN" altLang="en-US" sz="1400"/>
              <a:t>分析为某些连续变量建立最佳临床阈值，模型简化</a:t>
            </a:r>
            <a:endParaRPr lang="zh-CN" altLang="en-US" sz="1400"/>
          </a:p>
        </p:txBody>
      </p:sp>
      <p:cxnSp>
        <p:nvCxnSpPr>
          <p:cNvPr id="11" name="直接连接符 10"/>
          <p:cNvCxnSpPr/>
          <p:nvPr/>
        </p:nvCxnSpPr>
        <p:spPr>
          <a:xfrm>
            <a:off x="8949055" y="2822575"/>
            <a:ext cx="827405" cy="2514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3527425" y="2615565"/>
            <a:ext cx="1906905" cy="444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9285605" y="4548505"/>
            <a:ext cx="472440" cy="114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45" y="211455"/>
            <a:ext cx="5490845" cy="6646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0" y="1629410"/>
            <a:ext cx="5925820" cy="41059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0" y="566420"/>
            <a:ext cx="5925185" cy="106299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2752725" y="1397000"/>
            <a:ext cx="521970" cy="41846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752725" y="2138045"/>
            <a:ext cx="521970" cy="69215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675370" y="2138045"/>
            <a:ext cx="665480" cy="3917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06185" y="5995670"/>
            <a:ext cx="5683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32%</a:t>
            </a:r>
            <a:r>
              <a:rPr lang="zh-CN" altLang="en-US" sz="1600">
                <a:sym typeface="+mn-ea"/>
              </a:rPr>
              <a:t>患者实现了</a:t>
            </a:r>
            <a:r>
              <a:rPr lang="en-US" altLang="zh-CN" sz="1600">
                <a:sym typeface="+mn-ea"/>
              </a:rPr>
              <a:t>CR</a:t>
            </a:r>
            <a:r>
              <a:rPr lang="zh-CN" altLang="en-US" sz="1600">
                <a:sym typeface="+mn-ea"/>
              </a:rPr>
              <a:t>，且这些患者往往为男性，年龄较大，且有特发性或</a:t>
            </a:r>
            <a:r>
              <a:rPr lang="en-US" altLang="zh-CN" sz="1600">
                <a:sym typeface="+mn-ea"/>
              </a:rPr>
              <a:t>PCIS</a:t>
            </a:r>
            <a:r>
              <a:rPr lang="zh-CN" altLang="en-US" sz="1600">
                <a:sym typeface="+mn-ea"/>
              </a:rPr>
              <a:t>病因，心率中位数较低，复发次数较少</a:t>
            </a:r>
            <a:endParaRPr lang="zh-CN" altLang="en-US" sz="160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405" y="1732280"/>
            <a:ext cx="6129655" cy="3903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1971675"/>
            <a:ext cx="6187440" cy="274320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901950" y="3173730"/>
            <a:ext cx="643255" cy="33909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4480" y="4802505"/>
            <a:ext cx="6186805" cy="1753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Cox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比例风险模型）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RSF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（随机生存森林）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XGB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（极端梯度提升）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GBSA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（梯度提升生存分析）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SSVM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（支持向量机）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4480" y="963295"/>
            <a:ext cx="4685030" cy="645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使用所有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个候选变量训练的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XGB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模型，在测试集上表现出优越的预测性能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29400" y="963295"/>
            <a:ext cx="4685030" cy="645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XGB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模型的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个最有影响力的变量显示在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摘要图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4480" y="231775"/>
            <a:ext cx="516953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XGB</a:t>
            </a:r>
            <a:r>
              <a:rPr lang="zh-CN" altLang="en-US"/>
              <a:t>模型在测试集上的表现及特征重要性分析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585595" y="2482215"/>
            <a:ext cx="1581785" cy="306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未进行特征消除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7007225" y="5760085"/>
            <a:ext cx="4691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基线复发次数、</a:t>
            </a:r>
            <a:r>
              <a:rPr lang="zh-CN" altLang="en-US"/>
              <a:t>类固醇、年龄、左心室射血分数</a:t>
            </a:r>
            <a:r>
              <a:rPr lang="en-US" altLang="zh-CN"/>
              <a:t>LVEF</a:t>
            </a:r>
            <a:r>
              <a:rPr lang="zh-CN" altLang="en-US"/>
              <a:t>、病因</a:t>
            </a:r>
            <a:r>
              <a:rPr lang="en-US" altLang="zh-CN"/>
              <a:t>-</a:t>
            </a:r>
            <a:r>
              <a:rPr lang="zh-CN" altLang="en-US"/>
              <a:t>自身免疫、磁共振成像、</a:t>
            </a:r>
            <a:r>
              <a:rPr lang="zh-CN" altLang="en-US"/>
              <a:t>心率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930" y="699770"/>
            <a:ext cx="8001000" cy="54578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4010" y="1204595"/>
            <a:ext cx="6187440" cy="27432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997065" y="3626485"/>
            <a:ext cx="643255" cy="3155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9964420" y="3608705"/>
            <a:ext cx="643255" cy="33909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414010" y="4035425"/>
            <a:ext cx="6186805" cy="1753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Cox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比例风险模型）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RSF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（随机生存森林）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XGB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（极端梯度提升）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GBSA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（梯度提升生存分析）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SSVM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（支持向量机）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1325" y="4242435"/>
            <a:ext cx="4685030" cy="17532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研究中通过递归特征消除（</a:t>
            </a:r>
            <a:r>
              <a:rPr lang="en-US" altLang="zh-CN">
                <a:sym typeface="+mn-ea"/>
              </a:rPr>
              <a:t>RFE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过程选择了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个关键变量（年龄、性别、基线复发次数、病因、心率、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LGE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LVEF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、秋水仙碱、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DMARDs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和类固醇使用）。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在模型构建之后进行</a:t>
            </a:r>
            <a:r>
              <a:rPr lang="en-US" altLang="zh-CN">
                <a:sym typeface="+mn-ea"/>
              </a:rPr>
              <a:t>RFE</a:t>
            </a:r>
            <a:r>
              <a:rPr lang="zh-CN" altLang="en-US">
                <a:sym typeface="+mn-ea"/>
              </a:rPr>
              <a:t>可以作为一种验证步骤，帮助确认哪些特征确实重要。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 descr="对号对勾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0285" y="3626485"/>
            <a:ext cx="556260" cy="5562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" y="974090"/>
            <a:ext cx="4939030" cy="30613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847205" y="1724660"/>
            <a:ext cx="1581785" cy="306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未进行特征消除</a:t>
            </a:r>
            <a:endParaRPr lang="zh-CN" altLang="en-US" sz="1400"/>
          </a:p>
        </p:txBody>
      </p:sp>
      <p:sp>
        <p:nvSpPr>
          <p:cNvPr id="2" name="文本框 1"/>
          <p:cNvSpPr txBox="1"/>
          <p:nvPr/>
        </p:nvSpPr>
        <p:spPr>
          <a:xfrm>
            <a:off x="6847205" y="2788920"/>
            <a:ext cx="1581785" cy="3067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进行特征消除</a:t>
            </a:r>
            <a:endParaRPr lang="zh-CN" altLang="en-US" sz="1400"/>
          </a:p>
        </p:txBody>
      </p:sp>
      <p:sp>
        <p:nvSpPr>
          <p:cNvPr id="10" name="左中括号 9"/>
          <p:cNvSpPr/>
          <p:nvPr/>
        </p:nvSpPr>
        <p:spPr>
          <a:xfrm>
            <a:off x="4727575" y="1204595"/>
            <a:ext cx="76200" cy="429895"/>
          </a:xfrm>
          <a:prstGeom prst="leftBracket">
            <a:avLst/>
          </a:prstGeom>
          <a:ln w="31750" cap="rnd">
            <a:solidFill>
              <a:schemeClr val="accent3">
                <a:lumMod val="7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中括号 13"/>
          <p:cNvSpPr/>
          <p:nvPr/>
        </p:nvSpPr>
        <p:spPr>
          <a:xfrm rot="10800000">
            <a:off x="3794125" y="1724660"/>
            <a:ext cx="129540" cy="429895"/>
          </a:xfrm>
          <a:prstGeom prst="leftBracket">
            <a:avLst/>
          </a:prstGeom>
          <a:ln w="31750" cap="rnd">
            <a:solidFill>
              <a:schemeClr val="accent3">
                <a:lumMod val="7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左中括号 14"/>
          <p:cNvSpPr/>
          <p:nvPr/>
        </p:nvSpPr>
        <p:spPr>
          <a:xfrm rot="10800000">
            <a:off x="2249170" y="3626485"/>
            <a:ext cx="129540" cy="429895"/>
          </a:xfrm>
          <a:prstGeom prst="leftBracket">
            <a:avLst/>
          </a:prstGeom>
          <a:ln w="31750" cap="rnd">
            <a:solidFill>
              <a:schemeClr val="accent3">
                <a:lumMod val="7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左中括号 15"/>
          <p:cNvSpPr/>
          <p:nvPr/>
        </p:nvSpPr>
        <p:spPr>
          <a:xfrm>
            <a:off x="1821815" y="2585720"/>
            <a:ext cx="129540" cy="429895"/>
          </a:xfrm>
          <a:prstGeom prst="leftBracket">
            <a:avLst/>
          </a:prstGeom>
          <a:ln w="31750" cap="rnd">
            <a:solidFill>
              <a:schemeClr val="accent3">
                <a:lumMod val="7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81085" y="4433570"/>
            <a:ext cx="320992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选择</a:t>
            </a:r>
            <a:r>
              <a:rPr lang="en-US" altLang="zh-CN"/>
              <a:t>CPH</a:t>
            </a:r>
            <a:r>
              <a:rPr lang="zh-CN" altLang="en-US"/>
              <a:t>模型作为风险分层和进一步分析的最佳模型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5" grpId="0" bldLvl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480695" y="1107440"/>
            <a:ext cx="2832100" cy="36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A </a:t>
            </a:r>
            <a:r>
              <a:rPr lang="zh-CN" altLang="en-US">
                <a:sym typeface="+mn-ea"/>
              </a:rPr>
              <a:t>心率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1965" y="4801870"/>
            <a:ext cx="2844165" cy="36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D </a:t>
            </a:r>
            <a:r>
              <a:rPr lang="zh-CN" altLang="en-US">
                <a:sym typeface="+mn-ea"/>
              </a:rPr>
              <a:t>左心室射血分数（</a:t>
            </a:r>
            <a:r>
              <a:rPr lang="en-US" altLang="zh-CN">
                <a:sym typeface="+mn-ea"/>
              </a:rPr>
              <a:t>LVEF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4480" y="231775"/>
            <a:ext cx="431101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连续变量对模型输出影响的</a:t>
            </a:r>
            <a:r>
              <a:rPr lang="en-US" altLang="zh-CN"/>
              <a:t>SHAP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8105" y="325755"/>
            <a:ext cx="6510655" cy="62064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0695" y="2197100"/>
            <a:ext cx="2832100" cy="36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B </a:t>
            </a:r>
            <a:r>
              <a:rPr lang="zh-CN" altLang="en-US">
                <a:sym typeface="+mn-ea"/>
              </a:rPr>
              <a:t>心包炎发作次数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0695" y="3679825"/>
            <a:ext cx="2831465" cy="36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 </a:t>
            </a:r>
            <a:r>
              <a:rPr lang="zh-CN" altLang="en-US">
                <a:sym typeface="+mn-ea"/>
              </a:rPr>
              <a:t>年龄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0695" y="1652270"/>
            <a:ext cx="4676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心率增加与</a:t>
            </a:r>
            <a:r>
              <a:rPr lang="en-US" altLang="zh-CN">
                <a:sym typeface="+mn-ea"/>
              </a:rPr>
              <a:t>CR</a:t>
            </a:r>
            <a:r>
              <a:rPr lang="zh-CN" altLang="en-US">
                <a:sym typeface="+mn-ea"/>
              </a:rPr>
              <a:t>可能性降低呈反比关系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81965" y="2878455"/>
            <a:ext cx="4498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心包炎发作次数对</a:t>
            </a:r>
            <a:r>
              <a:rPr lang="en-US" altLang="zh-CN">
                <a:sym typeface="+mn-ea"/>
              </a:rPr>
              <a:t>CR</a:t>
            </a:r>
            <a:r>
              <a:rPr lang="zh-CN" altLang="en-US">
                <a:sym typeface="+mn-ea"/>
              </a:rPr>
              <a:t>的影响先降后稳，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次发作后无明显变化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81965" y="4241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55</a:t>
            </a:r>
            <a:r>
              <a:rPr lang="zh-CN" altLang="en-US">
                <a:sym typeface="+mn-ea"/>
              </a:rPr>
              <a:t>岁以上患者</a:t>
            </a:r>
            <a:r>
              <a:rPr lang="en-US" altLang="zh-CN">
                <a:sym typeface="+mn-ea"/>
              </a:rPr>
              <a:t>CR</a:t>
            </a:r>
            <a:r>
              <a:rPr lang="zh-CN" altLang="en-US">
                <a:sym typeface="+mn-ea"/>
              </a:rPr>
              <a:t>可能性增加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81965" y="5362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LVEF</a:t>
            </a:r>
            <a:r>
              <a:rPr lang="zh-CN" altLang="en-US">
                <a:sym typeface="+mn-ea"/>
              </a:rPr>
              <a:t>超过</a:t>
            </a:r>
            <a:r>
              <a:rPr lang="en-US" altLang="zh-CN">
                <a:sym typeface="+mn-ea"/>
              </a:rPr>
              <a:t>60%</a:t>
            </a:r>
            <a:r>
              <a:rPr lang="zh-CN" altLang="en-US">
                <a:sym typeface="+mn-ea"/>
              </a:rPr>
              <a:t>时，</a:t>
            </a:r>
            <a:r>
              <a:rPr lang="en-US" altLang="zh-CN">
                <a:sym typeface="+mn-ea"/>
              </a:rPr>
              <a:t>CR</a:t>
            </a:r>
            <a:r>
              <a:rPr lang="zh-CN" altLang="en-US">
                <a:sym typeface="+mn-ea"/>
              </a:rPr>
              <a:t>可能性下降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095490" y="262890"/>
            <a:ext cx="4573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SHAP</a:t>
            </a:r>
            <a:r>
              <a:rPr lang="zh-CN" altLang="en-US" sz="1600"/>
              <a:t>依赖图：展示变量值与</a:t>
            </a:r>
            <a:r>
              <a:rPr lang="en-US" altLang="zh-CN" sz="1600"/>
              <a:t>SHAP</a:t>
            </a:r>
            <a:r>
              <a:rPr lang="zh-CN" altLang="en-US" sz="1600"/>
              <a:t>值的关系</a:t>
            </a:r>
            <a:endParaRPr lang="zh-CN" altLang="en-US" sz="1600"/>
          </a:p>
        </p:txBody>
      </p:sp>
      <p:sp>
        <p:nvSpPr>
          <p:cNvPr id="20" name="文本框 19"/>
          <p:cNvSpPr txBox="1"/>
          <p:nvPr/>
        </p:nvSpPr>
        <p:spPr>
          <a:xfrm>
            <a:off x="3194050" y="619125"/>
            <a:ext cx="1964055" cy="10147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  <a:alpha val="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2000"/>
              <a:t>≤60</a:t>
            </a:r>
            <a:r>
              <a:rPr lang="zh-CN" altLang="en-US" sz="2000"/>
              <a:t>次</a:t>
            </a:r>
            <a:r>
              <a:rPr lang="en-US" altLang="zh-CN" sz="2000"/>
              <a:t>/</a:t>
            </a:r>
            <a:r>
              <a:rPr lang="zh-CN" altLang="en-US" sz="2000"/>
              <a:t>分钟</a:t>
            </a:r>
            <a:endParaRPr lang="zh-CN" altLang="en-US" sz="2000"/>
          </a:p>
          <a:p>
            <a:r>
              <a:rPr lang="en-US" altLang="zh-CN" sz="2000"/>
              <a:t>61-80</a:t>
            </a:r>
            <a:r>
              <a:rPr lang="zh-CN" altLang="en-US" sz="2000"/>
              <a:t>次</a:t>
            </a:r>
            <a:r>
              <a:rPr lang="en-US" altLang="zh-CN" sz="2000"/>
              <a:t>/</a:t>
            </a:r>
            <a:r>
              <a:rPr lang="zh-CN" altLang="en-US" sz="2000"/>
              <a:t>分钟</a:t>
            </a:r>
            <a:endParaRPr lang="zh-CN" altLang="en-US" sz="2000"/>
          </a:p>
          <a:p>
            <a:r>
              <a:rPr lang="en-US" altLang="zh-CN" sz="2000"/>
              <a:t>≥81</a:t>
            </a:r>
            <a:r>
              <a:rPr lang="zh-CN" altLang="en-US" sz="2000"/>
              <a:t>次</a:t>
            </a:r>
            <a:r>
              <a:rPr lang="en-US" altLang="zh-CN" sz="2000"/>
              <a:t>/</a:t>
            </a:r>
            <a:r>
              <a:rPr lang="zh-CN" altLang="en-US" sz="2000"/>
              <a:t>分钟</a:t>
            </a:r>
            <a:endParaRPr lang="zh-CN" altLang="en-US" sz="2000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5996940" y="1271905"/>
            <a:ext cx="1458595" cy="635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7011670" y="1040765"/>
            <a:ext cx="13335" cy="18288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194685" y="2126615"/>
            <a:ext cx="1962785" cy="46418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  <a:alpha val="0"/>
              </a:schemeClr>
            </a:solidFill>
          </a:ln>
        </p:spPr>
        <p:txBody>
          <a:bodyPr wrap="square" rtlCol="0">
            <a:noAutofit/>
          </a:bodyPr>
          <a:p>
            <a:r>
              <a:rPr lang="en-US" altLang="zh-CN" sz="2000"/>
              <a:t>  ≤3 vs &gt;3</a:t>
            </a:r>
            <a:endParaRPr lang="en-US" altLang="zh-CN" sz="2000"/>
          </a:p>
        </p:txBody>
      </p:sp>
      <p:sp>
        <p:nvSpPr>
          <p:cNvPr id="24" name="文本框 23"/>
          <p:cNvSpPr txBox="1"/>
          <p:nvPr/>
        </p:nvSpPr>
        <p:spPr>
          <a:xfrm>
            <a:off x="3194685" y="3683000"/>
            <a:ext cx="1962785" cy="3987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  <a:alpha val="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2000"/>
              <a:t>&lt;55</a:t>
            </a:r>
            <a:r>
              <a:rPr lang="zh-CN" altLang="en-US" sz="2000"/>
              <a:t>岁</a:t>
            </a:r>
            <a:r>
              <a:rPr lang="en-US" altLang="zh-CN" sz="2000"/>
              <a:t> vs ≥55</a:t>
            </a:r>
            <a:r>
              <a:rPr lang="zh-CN" altLang="en-US" sz="2000"/>
              <a:t>岁</a:t>
            </a:r>
            <a:endParaRPr lang="zh-CN" altLang="en-US" sz="2000"/>
          </a:p>
        </p:txBody>
      </p:sp>
      <p:sp>
        <p:nvSpPr>
          <p:cNvPr id="25" name="文本框 24"/>
          <p:cNvSpPr txBox="1"/>
          <p:nvPr/>
        </p:nvSpPr>
        <p:spPr>
          <a:xfrm>
            <a:off x="3194685" y="4786630"/>
            <a:ext cx="1962785" cy="3987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50000"/>
                <a:lumOff val="50000"/>
                <a:alpha val="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2000"/>
              <a:t>≤60% vs &gt;60%</a:t>
            </a:r>
            <a:endParaRPr lang="en-US" altLang="zh-CN" sz="2000"/>
          </a:p>
        </p:txBody>
      </p:sp>
      <p:cxnSp>
        <p:nvCxnSpPr>
          <p:cNvPr id="3" name="直接连接符 2"/>
          <p:cNvCxnSpPr/>
          <p:nvPr/>
        </p:nvCxnSpPr>
        <p:spPr>
          <a:xfrm flipH="1" flipV="1">
            <a:off x="6515100" y="1040765"/>
            <a:ext cx="13335" cy="18288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8972550" y="4331970"/>
            <a:ext cx="1522730" cy="1143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0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655" y="350520"/>
            <a:ext cx="7284720" cy="61569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85" y="262255"/>
            <a:ext cx="4141470" cy="717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979805"/>
            <a:ext cx="3996690" cy="25088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488690"/>
            <a:ext cx="3997960" cy="20497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5538470"/>
            <a:ext cx="3921125" cy="882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56495" y="862330"/>
            <a:ext cx="1960880" cy="52197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Risk score </a:t>
            </a:r>
            <a:r>
              <a:rPr lang="zh-CN" altLang="en-US" sz="1400"/>
              <a:t>越高</a:t>
            </a:r>
            <a:r>
              <a:rPr lang="en-US" altLang="zh-CN" sz="1400"/>
              <a:t> </a:t>
            </a:r>
            <a:endParaRPr lang="en-US" altLang="zh-CN" sz="1400"/>
          </a:p>
          <a:p>
            <a:r>
              <a:rPr lang="zh-CN" altLang="en-US" sz="1400"/>
              <a:t>临床缓解</a:t>
            </a:r>
            <a:r>
              <a:rPr lang="en-US" altLang="zh-CN" sz="1400"/>
              <a:t>(CR)</a:t>
            </a:r>
            <a:r>
              <a:rPr lang="zh-CN" altLang="en-US" sz="1400"/>
              <a:t>率越低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826000" y="294132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“</a:t>
            </a:r>
            <a:r>
              <a:rPr lang="zh-CN" altLang="en-US" sz="1400"/>
              <a:t>复发性心包炎临床缓解新型风险评分系统</a:t>
            </a:r>
            <a:r>
              <a:rPr lang="en-US" altLang="zh-CN" sz="1400"/>
              <a:t>”</a:t>
            </a:r>
            <a:endParaRPr lang="en-US" altLang="zh-CN" sz="140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8955405" y="1167130"/>
            <a:ext cx="1005205" cy="14605"/>
          </a:xfrm>
          <a:prstGeom prst="line">
            <a:avLst/>
          </a:prstGeom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8890000" y="2379345"/>
            <a:ext cx="2607945" cy="2286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92860" y="1831975"/>
            <a:ext cx="10210165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Cox regression analysis indicated that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follow-up period, patients in the low-risk category had a 27-fold higher incidence of CR compared with high-risk patients (HR: 27.5; 95% CI: 13.06-58.15; P &lt; 0.005).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Meanwhile, moderate-risk patients exhibited a 7-fold increase in CR incidence relative to high-risk patients (HR: 6.99; 95%CI: 3.34-14.65; P &lt; 0.005). 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967105" y="1063625"/>
            <a:ext cx="1025588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Our study, with 365 RP patients, used SHAP to interpret ML models, identifying key predictors and setting clinical thresholds for continuous variables to improve model interpretability. 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XGB (C-index 0.778) outperformed CPH (C-index 0.741), but after feature engineering, CPH performed better. Simplifying the model helps prevent overfitting. 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CPH was chosen for further analysis due to its robustness and clear risk ratios. 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Key prognostic factors identified include steroid dependency, recurrence count, LGE severity, </a:t>
            </a:r>
            <a:r>
              <a:rPr lang="zh-CN" altLang="en-US" sz="1400">
                <a:sym typeface="+mn-ea"/>
              </a:rPr>
              <a:t>类固醇依赖性、复发次数、</a:t>
            </a:r>
            <a:r>
              <a:rPr lang="en-US" altLang="zh-CN" sz="1400">
                <a:sym typeface="+mn-ea"/>
              </a:rPr>
              <a:t>LGE</a:t>
            </a:r>
            <a:r>
              <a:rPr lang="zh-CN" altLang="en-US" sz="1400">
                <a:sym typeface="+mn-ea"/>
              </a:rPr>
              <a:t>严重程度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age, and etiology, with heart rate found to be a novel prognostic factor, potentially linked to pericardial friction and inflammation worsening.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4721390],&quot;65&quot;:[20205081]}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4721390],&quot;65&quot;:[20205081]}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4721390],&quot;65&quot;:[20205081]}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resource_record_key" val="{&quot;10&quot;:[4721390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3177</Words>
  <Application>WPS 演示</Application>
  <PresentationFormat>宽屏</PresentationFormat>
  <Paragraphs>149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Times New Roman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启智设计</dc:creator>
  <cp:lastModifiedBy>long</cp:lastModifiedBy>
  <cp:revision>170</cp:revision>
  <dcterms:created xsi:type="dcterms:W3CDTF">2019-06-19T02:08:00Z</dcterms:created>
  <dcterms:modified xsi:type="dcterms:W3CDTF">2025-11-16T07:31:23Z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D6E88F1713DC4D9994A7686645D582E0_13</vt:lpwstr>
  </property>
  <property fmtid="{D5CDD505-2E9C-101B-9397-08002B2CF9AE}" pid="4" name="KSOTemplateUUID">
    <vt:lpwstr>v1.0_mb_2zvFeT4PCJGpZ0l/rdqMPQ==</vt:lpwstr>
  </property>
</Properties>
</file>